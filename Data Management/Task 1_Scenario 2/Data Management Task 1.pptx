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notesMasterIdLst>
    <p:notesMasterId r:id="rId8"/>
  </p:notesMasterIdLst>
  <p:sldIdLst>
    <p:sldId id="256" r:id="rId2"/>
    <p:sldId id="257" r:id="rId3"/>
    <p:sldId id="258" r:id="rId4"/>
    <p:sldId id="261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73"/>
    <p:restoredTop sz="95964"/>
  </p:normalViewPr>
  <p:slideViewPr>
    <p:cSldViewPr snapToGrid="0">
      <p:cViewPr varScale="1">
        <p:scale>
          <a:sx n="111" d="100"/>
          <a:sy n="111" d="100"/>
        </p:scale>
        <p:origin x="85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F52198-54D0-FC48-9F08-EE5C62A55137}" type="datetimeFigureOut">
              <a:rPr lang="en-US" smtClean="0"/>
              <a:t>6/17/25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50339F-27BC-8742-84A3-75806514C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967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Proper database design ensures that data is clean, consistent, and structured for scalability. Indexing, especially on key fields, allows us to retrieve data faster without overloading the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50339F-27BC-8742-84A3-75806514C56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98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30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0980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6/17/25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391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2608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6/17/25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0980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6/17/25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21868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6/17/25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5259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333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6/17/25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3466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710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353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6/17/25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8346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87AF1-A02C-86B9-BC28-1A3358D72A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Data Management - Task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540546-8839-51E1-F29D-C10B20353B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Hiyab Mengisteab</a:t>
            </a:r>
          </a:p>
        </p:txBody>
      </p:sp>
    </p:spTree>
    <p:extLst>
      <p:ext uri="{BB962C8B-B14F-4D97-AF65-F5344CB8AC3E}">
        <p14:creationId xmlns:p14="http://schemas.microsoft.com/office/powerpoint/2010/main" val="1095638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A3CA8-B763-B2E3-F595-5064A7CD8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Database Design and Indexing Optimize Performance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D8AC8-BC5F-0012-852F-73EB42437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Proper database design ensures that data is clean, consistent, and structured for scalability. Indexing, especially on key fields, allows us to retrieve data faster without overloading the database.</a:t>
            </a:r>
          </a:p>
          <a:p>
            <a:r>
              <a:rPr lang="en-US" b="1" dirty="0"/>
              <a:t>Normalized Data Model:</a:t>
            </a:r>
            <a:endParaRPr lang="en-US" dirty="0"/>
          </a:p>
          <a:p>
            <a:pPr lvl="1"/>
            <a:r>
              <a:rPr lang="en-US" dirty="0"/>
              <a:t>Eliminates redundancy</a:t>
            </a:r>
          </a:p>
          <a:p>
            <a:pPr lvl="1"/>
            <a:r>
              <a:rPr lang="en-US" dirty="0"/>
              <a:t>Improves data integrity and consistency</a:t>
            </a:r>
          </a:p>
          <a:p>
            <a:r>
              <a:rPr lang="en-US" b="1" dirty="0"/>
              <a:t>Use of Foreign Keys:</a:t>
            </a:r>
            <a:endParaRPr lang="en-US" dirty="0"/>
          </a:p>
          <a:p>
            <a:pPr lvl="1"/>
            <a:r>
              <a:rPr lang="en-US" dirty="0"/>
              <a:t>Enforces relationships</a:t>
            </a:r>
          </a:p>
          <a:p>
            <a:pPr lvl="1"/>
            <a:r>
              <a:rPr lang="en-US" dirty="0"/>
              <a:t>Enables efficient joins across tables</a:t>
            </a:r>
          </a:p>
          <a:p>
            <a:r>
              <a:rPr lang="en-US" b="1" dirty="0"/>
              <a:t>Indexing Strategy:</a:t>
            </a:r>
            <a:endParaRPr lang="en-US" dirty="0"/>
          </a:p>
          <a:p>
            <a:pPr lvl="1"/>
            <a:r>
              <a:rPr lang="en-US" dirty="0"/>
              <a:t>Created indexes on frequently queried columns (</a:t>
            </a:r>
            <a:r>
              <a:rPr lang="en-US" dirty="0" err="1"/>
              <a:t>order_date</a:t>
            </a:r>
            <a:r>
              <a:rPr lang="en-US" dirty="0"/>
              <a:t>, </a:t>
            </a:r>
            <a:r>
              <a:rPr lang="en-US" dirty="0" err="1"/>
              <a:t>item_type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Improved query performance for filtering, sorting, and lookups</a:t>
            </a:r>
          </a:p>
          <a:p>
            <a:pPr lvl="1"/>
            <a:r>
              <a:rPr lang="en-US" dirty="0"/>
              <a:t>Reduced full table scans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74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12E6F-72F9-B9F9-B7B5-57BD927D1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CBED8-A44F-B132-03EE-5523C5782D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Key Points:</a:t>
            </a:r>
          </a:p>
          <a:p>
            <a:r>
              <a:rPr lang="en-US" b="1" dirty="0"/>
              <a:t>Database System:</a:t>
            </a:r>
            <a:r>
              <a:rPr lang="en-US" dirty="0"/>
              <a:t> PostgreSQL via </a:t>
            </a:r>
            <a:r>
              <a:rPr lang="en-US" dirty="0" err="1"/>
              <a:t>pgAdmin</a:t>
            </a:r>
            <a:endParaRPr lang="en-US" dirty="0"/>
          </a:p>
          <a:p>
            <a:r>
              <a:rPr lang="en-US" b="1" dirty="0"/>
              <a:t>Data Import:</a:t>
            </a:r>
            <a:r>
              <a:rPr lang="en-US" dirty="0"/>
              <a:t> Cleaned CSV files imported into relational tables</a:t>
            </a:r>
          </a:p>
          <a:p>
            <a:r>
              <a:rPr lang="en-US" b="1" dirty="0"/>
              <a:t>Development Tools:</a:t>
            </a:r>
            <a:endParaRPr lang="en-US" dirty="0"/>
          </a:p>
          <a:p>
            <a:pPr lvl="1"/>
            <a:r>
              <a:rPr lang="en-US" b="1" dirty="0" err="1"/>
              <a:t>pgAdmin</a:t>
            </a:r>
            <a:r>
              <a:rPr lang="en-US" b="1" dirty="0"/>
              <a:t> Query Tool</a:t>
            </a:r>
            <a:r>
              <a:rPr lang="en-US" dirty="0"/>
              <a:t> for execution</a:t>
            </a:r>
          </a:p>
          <a:p>
            <a:pPr lvl="1"/>
            <a:r>
              <a:rPr lang="en-US" b="1" dirty="0"/>
              <a:t>Excel</a:t>
            </a:r>
            <a:r>
              <a:rPr lang="en-US" dirty="0"/>
              <a:t> used for initial data preparation and validation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5714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7ACF2-DA4C-4789-B2F6-34B17E046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Needs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1AD80-C5F6-7F1D-8972-F61351BEF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EcoMart’s</a:t>
            </a:r>
            <a:r>
              <a:rPr lang="en-US" b="1" dirty="0"/>
              <a:t> Database Needs</a:t>
            </a:r>
          </a:p>
          <a:p>
            <a:r>
              <a:rPr lang="en-US" b="1" dirty="0"/>
              <a:t>Goal:</a:t>
            </a:r>
            <a:r>
              <a:rPr lang="en-US" dirty="0"/>
              <a:t> Implement a robust </a:t>
            </a:r>
            <a:r>
              <a:rPr lang="en-US" b="1" dirty="0"/>
              <a:t>relational database</a:t>
            </a:r>
            <a:r>
              <a:rPr lang="en-US" dirty="0"/>
              <a:t> to support:</a:t>
            </a:r>
          </a:p>
          <a:p>
            <a:pPr lvl="1"/>
            <a:r>
              <a:rPr lang="en-US" dirty="0"/>
              <a:t>Product management</a:t>
            </a:r>
          </a:p>
          <a:p>
            <a:pPr lvl="1"/>
            <a:r>
              <a:rPr lang="en-US" dirty="0"/>
              <a:t>Transaction tracking</a:t>
            </a:r>
          </a:p>
          <a:p>
            <a:pPr lvl="1"/>
            <a:r>
              <a:rPr lang="en-US" dirty="0"/>
              <a:t>Customer analytics</a:t>
            </a:r>
          </a:p>
          <a:p>
            <a:pPr lvl="1"/>
            <a:r>
              <a:rPr lang="en-US" dirty="0"/>
              <a:t>Secure and compliant data handling</a:t>
            </a:r>
          </a:p>
          <a:p>
            <a:r>
              <a:rPr lang="en-US" b="1" dirty="0"/>
              <a:t>Expansion Focus:</a:t>
            </a:r>
            <a:endParaRPr lang="en-US" dirty="0"/>
          </a:p>
          <a:p>
            <a:pPr lvl="1"/>
            <a:r>
              <a:rPr lang="en-US" dirty="0"/>
              <a:t>Integrate new data elements such as:</a:t>
            </a:r>
          </a:p>
          <a:p>
            <a:pPr lvl="2"/>
            <a:r>
              <a:rPr lang="en-US" dirty="0"/>
              <a:t>Product details &amp; descriptions</a:t>
            </a:r>
          </a:p>
          <a:p>
            <a:pPr lvl="2"/>
            <a:r>
              <a:rPr lang="en-US" dirty="0"/>
              <a:t>Pricing &amp; availability</a:t>
            </a:r>
          </a:p>
          <a:p>
            <a:pPr lvl="2"/>
            <a:r>
              <a:rPr lang="en-US" dirty="0"/>
              <a:t>Sustainability certifications</a:t>
            </a:r>
          </a:p>
          <a:p>
            <a:pPr lvl="2"/>
            <a:r>
              <a:rPr lang="en-US" dirty="0"/>
              <a:t>Customer reviews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1590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1CAF6-BA7D-DEA7-EA4B-0B167BC79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Privacy &amp; Security Measures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182EC-16C8-1B5E-1DFE-5A010B690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ensure protection of sensitive detail in the proposed database:</a:t>
            </a:r>
          </a:p>
          <a:p>
            <a:r>
              <a:rPr lang="en-US" b="1" dirty="0"/>
              <a:t>Role-Based Access Control (RBAC)</a:t>
            </a:r>
            <a:br>
              <a:rPr lang="en-US" dirty="0"/>
            </a:br>
            <a:r>
              <a:rPr lang="en-US" dirty="0"/>
              <a:t>Restrict read/write permissions based on user roles to limit exposure.</a:t>
            </a:r>
          </a:p>
          <a:p>
            <a:r>
              <a:rPr lang="en-US" b="1" dirty="0"/>
              <a:t>Data Encryption</a:t>
            </a:r>
            <a:br>
              <a:rPr lang="en-US" dirty="0"/>
            </a:br>
            <a:r>
              <a:rPr lang="en-US" dirty="0"/>
              <a:t>For example, for customer Personal data, creating column encryptions and prevent accessibility.</a:t>
            </a:r>
          </a:p>
          <a:p>
            <a:r>
              <a:rPr lang="en-US" b="1" dirty="0"/>
              <a:t>Backup</a:t>
            </a:r>
            <a:br>
              <a:rPr lang="en-US" dirty="0"/>
            </a:br>
            <a:r>
              <a:rPr lang="en-US" dirty="0"/>
              <a:t>Schedule auto backups to prevent data loss for any future reason. </a:t>
            </a:r>
          </a:p>
        </p:txBody>
      </p:sp>
    </p:spTree>
    <p:extLst>
      <p:ext uri="{BB962C8B-B14F-4D97-AF65-F5344CB8AC3E}">
        <p14:creationId xmlns:p14="http://schemas.microsoft.com/office/powerpoint/2010/main" val="38724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7AA93-A979-3E26-DB88-902B21462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Reference: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D982D-15AA-40EC-069F-ECE848A16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i="1" dirty="0"/>
              <a:t>External resources not used in this submission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1992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107</TotalTime>
  <Words>300</Words>
  <Application>Microsoft Macintosh PowerPoint</Application>
  <PresentationFormat>Widescreen</PresentationFormat>
  <Paragraphs>43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Calibri</vt:lpstr>
      <vt:lpstr>Rockwell</vt:lpstr>
      <vt:lpstr>Rockwell Condensed</vt:lpstr>
      <vt:lpstr>Rockwell Extra Bold</vt:lpstr>
      <vt:lpstr>Wingdings</vt:lpstr>
      <vt:lpstr>Wood Type</vt:lpstr>
      <vt:lpstr>Data Management - Task 1</vt:lpstr>
      <vt:lpstr>How Database Design and Indexing Optimize Performance </vt:lpstr>
      <vt:lpstr>Technical Environment</vt:lpstr>
      <vt:lpstr>Business Needs</vt:lpstr>
      <vt:lpstr>Privacy &amp; Security Measures</vt:lpstr>
      <vt:lpstr>Reference: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Hiyab Mengisteab</dc:creator>
  <cp:lastModifiedBy>Hiyab Mengisteab</cp:lastModifiedBy>
  <cp:revision>6</cp:revision>
  <dcterms:created xsi:type="dcterms:W3CDTF">2025-06-16T01:17:34Z</dcterms:created>
  <dcterms:modified xsi:type="dcterms:W3CDTF">2025-06-18T05:15:46Z</dcterms:modified>
</cp:coreProperties>
</file>