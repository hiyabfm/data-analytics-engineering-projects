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420"/>
  </p:normalViewPr>
  <p:slideViewPr>
    <p:cSldViewPr snapToGrid="0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81DB-2CE8-AB89-37CE-05777EAEC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D4EFA-9637-518A-E370-B459EF3F3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87B0E-273D-E1AC-EB29-B0A97884E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C0915-9921-0BA5-129A-839C679E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D5C11-5755-008E-8F23-8A21529F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7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D31F-7520-1979-9EBB-1AD68AA70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9AA6-6BE6-061C-D7BF-CD83BF5DC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0AF3-E77E-ABCC-F3E5-C73DDDC7D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765B5-96AB-88D3-427F-714F7533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DC234-3BA0-8D79-DE52-21EFE0D7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0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EC23-AB91-C519-C9C0-08BA0163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ACF15-1B14-2563-F134-5D624F991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2D315-D188-17A6-858C-33656948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32D37-16C7-9A2C-2D3D-01171020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01E25-881C-CAA2-008A-AED87DF30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4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6497-FA18-0505-CDFD-5A0B399F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BB77-0BC7-EDB2-3C4C-02704F860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768F6-7ADD-4190-F52C-17CB7214F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BA46-88AE-B95A-AC9D-412C6705F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AFC9F-8891-4392-9866-AD697D75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C9F6D-42A1-482A-84B8-E15F0012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1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DC9F5-793C-8F6B-5379-8792992C1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5D997-F884-5963-872A-D9B71DDCB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F10F4-5EBB-30EE-4606-2CC26EA9E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31DD3-1E49-2AD1-9BAD-59D8F53B4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6FDF7-2949-09E3-2CEB-6B0FD2E2A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29077-6DE7-ED01-7F4A-0DA3880F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018B9C-F28F-E5F5-21EB-F4F34ED9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14084-E092-181E-C10C-11FD3AAF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6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922FA-883D-EDF8-168A-28247596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F4EAB-86B0-8464-AB05-6FAF1B80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ACA39-1D8A-D04B-8D19-9E2CFB72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5C642-C7C4-3F6E-E510-977B84AC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5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D882D-FBB4-EE06-422E-850ED953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DFA5C-AB1E-835E-B4A6-70E5F7D1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0500D-EF86-19F2-F716-15E11385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5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CCB4-1BAE-C168-D29C-46A637836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0403-C107-2F27-E1A2-7F29C0CD3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98800-4B3D-BAAE-A842-6548353B0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39239-FC8A-D531-6965-90DFA5A2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90C87-1B30-53F1-E4B9-2AB82FDDB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CEA3C-17C6-A5CF-8ECC-1B150B9E5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10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8B59-8F12-D16E-657E-B36C3D54B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1B29B-3046-E223-DF5F-C0E7502D1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7E3D-A12B-1919-9B76-BC3029BA6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C6620-7927-8FD4-C449-D557B609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43E29-A63F-5846-0D0B-4A1B4848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C6D68-D056-0771-0AF0-B0DA2D44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3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1581-9C5A-0F3E-E6BE-5102E792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A729A-FA01-A0F8-0281-1A57263C5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A87BE-E4C8-5581-1781-62C17495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B4716-0D0A-173D-5BF5-0D224D61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883A7-0592-3853-5C89-15DE1281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5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28F8BD-7C83-A8DF-6C46-AD0715C43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CD1F2-D523-22BA-7D84-C4124C724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47852-55DF-9ABD-8D01-3609CC4C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B4ED6-B062-4083-25D0-96358FA2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E361A-1415-3718-69DD-9115BC12C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4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05019-6504-330F-9BC9-94EE42CF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ECA68-9918-EFE7-A066-A2434D71E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9DCA5-9A13-A33A-0A91-3CD19B4D1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46944-9066-484E-9957-0F374EFC700A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35AB3-3D47-C2A6-E496-E8D278239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BF41-C5F4-7D9A-31A0-36A7825B5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CF3F8-C3DD-7A48-8745-A8446EE60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4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BC6F-4082-FCE8-51A0-F94CBDFB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16380A5A-EF7C-923D-01FD-0504BD1BF630}"/>
              </a:ext>
            </a:extLst>
          </p:cNvPr>
          <p:cNvSpPr/>
          <p:nvPr/>
        </p:nvSpPr>
        <p:spPr>
          <a:xfrm>
            <a:off x="151074" y="1350061"/>
            <a:ext cx="925974" cy="393540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Start</a:t>
            </a: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61F13F49-110B-E2F5-1447-3BCE69E6CB65}"/>
              </a:ext>
            </a:extLst>
          </p:cNvPr>
          <p:cNvSpPr/>
          <p:nvPr/>
        </p:nvSpPr>
        <p:spPr>
          <a:xfrm>
            <a:off x="5979408" y="2719738"/>
            <a:ext cx="1554480" cy="1097280"/>
          </a:xfrm>
          <a:prstGeom prst="flowChartProcess">
            <a:avLst/>
          </a:prstGeom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Group data by 'State’</a:t>
            </a:r>
          </a:p>
          <a:p>
            <a:pPr algn="ctr"/>
            <a:r>
              <a:rPr lang="en-US" sz="1100" dirty="0"/>
              <a:t>Calculate descriptive statistics (mean, median, min, max) and save to DF3</a:t>
            </a:r>
          </a:p>
        </p:txBody>
      </p:sp>
      <p:sp>
        <p:nvSpPr>
          <p:cNvPr id="16" name="Process 15">
            <a:extLst>
              <a:ext uri="{FF2B5EF4-FFF2-40B4-BE49-F238E27FC236}">
                <a16:creationId xmlns:a16="http://schemas.microsoft.com/office/drawing/2014/main" id="{57D0106C-4E4F-20A4-4DFB-BFA94B527F75}"/>
              </a:ext>
            </a:extLst>
          </p:cNvPr>
          <p:cNvSpPr/>
          <p:nvPr/>
        </p:nvSpPr>
        <p:spPr>
          <a:xfrm>
            <a:off x="7788093" y="4030101"/>
            <a:ext cx="1554480" cy="1097280"/>
          </a:xfrm>
          <a:prstGeom prst="flowChartProcess">
            <a:avLst/>
          </a:prstGeom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Calculate debt-to-income ratio (Long-term Debt / Revenue) under DF5</a:t>
            </a:r>
          </a:p>
        </p:txBody>
      </p:sp>
      <p:sp>
        <p:nvSpPr>
          <p:cNvPr id="20" name="Alternate Process 19">
            <a:extLst>
              <a:ext uri="{FF2B5EF4-FFF2-40B4-BE49-F238E27FC236}">
                <a16:creationId xmlns:a16="http://schemas.microsoft.com/office/drawing/2014/main" id="{313C407B-DBF6-24B5-1D9B-6B98F31730C1}"/>
              </a:ext>
            </a:extLst>
          </p:cNvPr>
          <p:cNvSpPr/>
          <p:nvPr/>
        </p:nvSpPr>
        <p:spPr>
          <a:xfrm>
            <a:off x="10679268" y="5753278"/>
            <a:ext cx="925974" cy="393540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End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7C5B1B57-BD91-D082-99AD-4DAACAEDD7B1}"/>
              </a:ext>
            </a:extLst>
          </p:cNvPr>
          <p:cNvCxnSpPr>
            <a:cxnSpLocks/>
            <a:stCxn id="10" idx="3"/>
            <a:endCxn id="6" idx="2"/>
          </p:cNvCxnSpPr>
          <p:nvPr/>
        </p:nvCxnSpPr>
        <p:spPr>
          <a:xfrm flipV="1">
            <a:off x="1077048" y="1546830"/>
            <a:ext cx="23290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29160CF7-B9FD-4C64-D5C5-FF059E979ABC}"/>
              </a:ext>
            </a:extLst>
          </p:cNvPr>
          <p:cNvCxnSpPr>
            <a:cxnSpLocks/>
            <a:stCxn id="6" idx="5"/>
            <a:endCxn id="2" idx="1"/>
          </p:cNvCxnSpPr>
          <p:nvPr/>
        </p:nvCxnSpPr>
        <p:spPr>
          <a:xfrm>
            <a:off x="2928633" y="1546830"/>
            <a:ext cx="305830" cy="39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737A3A3A-A6D3-2BA6-EB49-BFF42BBDCEF0}"/>
              </a:ext>
            </a:extLst>
          </p:cNvPr>
          <p:cNvCxnSpPr>
            <a:cxnSpLocks/>
            <a:stCxn id="2" idx="3"/>
            <a:endCxn id="13" idx="0"/>
          </p:cNvCxnSpPr>
          <p:nvPr/>
        </p:nvCxnSpPr>
        <p:spPr>
          <a:xfrm>
            <a:off x="5422608" y="1550767"/>
            <a:ext cx="1334040" cy="11689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Process 62">
            <a:extLst>
              <a:ext uri="{FF2B5EF4-FFF2-40B4-BE49-F238E27FC236}">
                <a16:creationId xmlns:a16="http://schemas.microsoft.com/office/drawing/2014/main" id="{6909245D-3E22-81CE-BBF2-A575021D88C3}"/>
              </a:ext>
            </a:extLst>
          </p:cNvPr>
          <p:cNvSpPr/>
          <p:nvPr/>
        </p:nvSpPr>
        <p:spPr>
          <a:xfrm>
            <a:off x="7777353" y="2724060"/>
            <a:ext cx="1554480" cy="1097280"/>
          </a:xfrm>
          <a:prstGeom prst="flowChartProcess">
            <a:avLst/>
          </a:prstGeom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Filter negative debt-to-equity ratio and save to  DF4</a:t>
            </a:r>
          </a:p>
        </p:txBody>
      </p: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27D31B44-8CBF-39DC-8949-D6AFCD16078E}"/>
              </a:ext>
            </a:extLst>
          </p:cNvPr>
          <p:cNvCxnSpPr>
            <a:cxnSpLocks/>
            <a:stCxn id="13" idx="3"/>
            <a:endCxn id="63" idx="1"/>
          </p:cNvCxnSpPr>
          <p:nvPr/>
        </p:nvCxnSpPr>
        <p:spPr>
          <a:xfrm>
            <a:off x="7533888" y="3268378"/>
            <a:ext cx="243465" cy="4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880A0CB6-4C42-B83C-A31E-BB5F9A6E0552}"/>
              </a:ext>
            </a:extLst>
          </p:cNvPr>
          <p:cNvCxnSpPr>
            <a:cxnSpLocks/>
            <a:stCxn id="63" idx="2"/>
            <a:endCxn id="16" idx="0"/>
          </p:cNvCxnSpPr>
          <p:nvPr/>
        </p:nvCxnSpPr>
        <p:spPr>
          <a:xfrm rot="16200000" flipH="1">
            <a:off x="8455583" y="3920350"/>
            <a:ext cx="208761" cy="10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549E80AC-B9E6-469D-9771-9687B1916BAC}"/>
              </a:ext>
            </a:extLst>
          </p:cNvPr>
          <p:cNvCxnSpPr>
            <a:cxnSpLocks/>
            <a:stCxn id="16" idx="2"/>
            <a:endCxn id="56" idx="1"/>
          </p:cNvCxnSpPr>
          <p:nvPr/>
        </p:nvCxnSpPr>
        <p:spPr>
          <a:xfrm rot="5400000">
            <a:off x="8415082" y="5266892"/>
            <a:ext cx="289763" cy="10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Elbow Connector 215">
            <a:extLst>
              <a:ext uri="{FF2B5EF4-FFF2-40B4-BE49-F238E27FC236}">
                <a16:creationId xmlns:a16="http://schemas.microsoft.com/office/drawing/2014/main" id="{B5C3302B-9BBB-58AF-26F5-6094B4D558F9}"/>
              </a:ext>
            </a:extLst>
          </p:cNvPr>
          <p:cNvCxnSpPr>
            <a:cxnSpLocks/>
            <a:stCxn id="56" idx="5"/>
            <a:endCxn id="20" idx="1"/>
          </p:cNvCxnSpPr>
          <p:nvPr/>
        </p:nvCxnSpPr>
        <p:spPr>
          <a:xfrm>
            <a:off x="9363933" y="5950048"/>
            <a:ext cx="1315335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Decision 1">
            <a:extLst>
              <a:ext uri="{FF2B5EF4-FFF2-40B4-BE49-F238E27FC236}">
                <a16:creationId xmlns:a16="http://schemas.microsoft.com/office/drawing/2014/main" id="{37F70E68-23FD-D836-395E-5F82EB9C14B8}"/>
              </a:ext>
            </a:extLst>
          </p:cNvPr>
          <p:cNvSpPr/>
          <p:nvPr/>
        </p:nvSpPr>
        <p:spPr>
          <a:xfrm>
            <a:off x="3234463" y="906752"/>
            <a:ext cx="2188145" cy="128803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Check if duplicate rows exists</a:t>
            </a:r>
          </a:p>
        </p:txBody>
      </p:sp>
      <p:sp>
        <p:nvSpPr>
          <p:cNvPr id="4" name="Process 3">
            <a:extLst>
              <a:ext uri="{FF2B5EF4-FFF2-40B4-BE49-F238E27FC236}">
                <a16:creationId xmlns:a16="http://schemas.microsoft.com/office/drawing/2014/main" id="{6E50C826-CE88-3629-F49E-19D8D628EBF7}"/>
              </a:ext>
            </a:extLst>
          </p:cNvPr>
          <p:cNvSpPr/>
          <p:nvPr/>
        </p:nvSpPr>
        <p:spPr>
          <a:xfrm>
            <a:off x="3549212" y="2723468"/>
            <a:ext cx="1554480" cy="1097280"/>
          </a:xfrm>
          <a:prstGeom prst="flowChartProcess">
            <a:avLst/>
          </a:prstGeom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Remove Duplicates</a:t>
            </a:r>
          </a:p>
          <a:p>
            <a:pPr algn="ctr"/>
            <a:endParaRPr lang="en-US" sz="1100" dirty="0"/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0BA7ACFA-0603-2902-37A8-2E33140D4434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5400000">
            <a:off x="4063151" y="2458083"/>
            <a:ext cx="528686" cy="20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B899A55-8881-CFD4-35BC-C588BC40BB82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5103692" y="3268378"/>
            <a:ext cx="875716" cy="37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42F29B1-B72B-B26E-4F0C-EB5D6CE20D6C}"/>
              </a:ext>
            </a:extLst>
          </p:cNvPr>
          <p:cNvSpPr txBox="1"/>
          <p:nvPr/>
        </p:nvSpPr>
        <p:spPr>
          <a:xfrm>
            <a:off x="3821841" y="2168678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28A93D-3A62-2FEA-26C2-03DF4C3E6316}"/>
              </a:ext>
            </a:extLst>
          </p:cNvPr>
          <p:cNvSpPr txBox="1"/>
          <p:nvPr/>
        </p:nvSpPr>
        <p:spPr>
          <a:xfrm>
            <a:off x="6294584" y="17659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6" name="Data 5">
            <a:extLst>
              <a:ext uri="{FF2B5EF4-FFF2-40B4-BE49-F238E27FC236}">
                <a16:creationId xmlns:a16="http://schemas.microsoft.com/office/drawing/2014/main" id="{F7DE7A8B-5DDB-9175-ED22-A55967F23C2C}"/>
              </a:ext>
            </a:extLst>
          </p:cNvPr>
          <p:cNvSpPr/>
          <p:nvPr/>
        </p:nvSpPr>
        <p:spPr>
          <a:xfrm>
            <a:off x="1107618" y="1013926"/>
            <a:ext cx="2023350" cy="1065808"/>
          </a:xfrm>
          <a:prstGeom prst="flowChartInputOutpu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Import data from "D598 Data Set” and save on a DF</a:t>
            </a:r>
          </a:p>
        </p:txBody>
      </p:sp>
      <p:sp>
        <p:nvSpPr>
          <p:cNvPr id="56" name="Data 55">
            <a:extLst>
              <a:ext uri="{FF2B5EF4-FFF2-40B4-BE49-F238E27FC236}">
                <a16:creationId xmlns:a16="http://schemas.microsoft.com/office/drawing/2014/main" id="{CC24CED1-4581-ED83-2BD2-0DB267F713F1}"/>
              </a:ext>
            </a:extLst>
          </p:cNvPr>
          <p:cNvSpPr/>
          <p:nvPr/>
        </p:nvSpPr>
        <p:spPr>
          <a:xfrm>
            <a:off x="7542918" y="5417144"/>
            <a:ext cx="2023350" cy="1065808"/>
          </a:xfrm>
          <a:prstGeom prst="flowChartInputOutpu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Concatenate debt-to-income ratio (DF5 ) into the original  </a:t>
            </a:r>
            <a:r>
              <a:rPr lang="en-US" sz="1100" dirty="0" err="1"/>
              <a:t>dataframe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5080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ACD9-296A-790E-275B-6F33D0CA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02C3-125D-EE06-AA6D-1DF6B1BD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Import data from "D598 Data Set"</a:t>
            </a:r>
          </a:p>
          <a:p>
            <a:r>
              <a:rPr lang="en-US" dirty="0"/>
              <a:t>Check for duplicate rows in the </a:t>
            </a:r>
            <a:r>
              <a:rPr lang="en-US" dirty="0" err="1"/>
              <a:t>dataframe</a:t>
            </a:r>
            <a:r>
              <a:rPr lang="en-US" dirty="0"/>
              <a:t> (df2)</a:t>
            </a:r>
          </a:p>
          <a:p>
            <a:r>
              <a:rPr lang="en-US" dirty="0"/>
              <a:t>Delete duplicate if there is</a:t>
            </a:r>
          </a:p>
          <a:p>
            <a:r>
              <a:rPr lang="en-US" dirty="0"/>
              <a:t>Group df2 by 'State’ and calculate descriptive statistics (mean, median, min, max) by state in a new </a:t>
            </a:r>
            <a:r>
              <a:rPr lang="en-US" dirty="0" err="1"/>
              <a:t>dataframe</a:t>
            </a:r>
            <a:r>
              <a:rPr lang="en-US" dirty="0"/>
              <a:t> (df3)</a:t>
            </a:r>
          </a:p>
          <a:p>
            <a:r>
              <a:rPr lang="en-US" dirty="0"/>
              <a:t>Filter df2 businesses with negative debt-to-equity ratio into a df4</a:t>
            </a:r>
          </a:p>
          <a:p>
            <a:r>
              <a:rPr lang="en-US" dirty="0"/>
              <a:t>Calculate debt-to-income ratio (Long-term Debt / Revenue) using df2 into df5</a:t>
            </a:r>
          </a:p>
          <a:p>
            <a:r>
              <a:rPr lang="en-US" dirty="0"/>
              <a:t>Concatenate debt-to-income df4 with df2</a:t>
            </a:r>
          </a:p>
          <a:p>
            <a:r>
              <a:rPr lang="en-US" dirty="0"/>
              <a:t>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93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154</Words>
  <Application>Microsoft Macintosh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Hiyab Mengisteab</dc:creator>
  <cp:lastModifiedBy>Hiyab Mengisteab</cp:lastModifiedBy>
  <cp:revision>12</cp:revision>
  <dcterms:created xsi:type="dcterms:W3CDTF">2025-06-06T11:55:08Z</dcterms:created>
  <dcterms:modified xsi:type="dcterms:W3CDTF">2026-03-06T08:55:11Z</dcterms:modified>
</cp:coreProperties>
</file>