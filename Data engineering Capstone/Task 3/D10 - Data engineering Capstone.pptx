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  <p:sldMasterId id="2147483844" r:id="rId2"/>
  </p:sldMasterIdLst>
  <p:sldIdLst>
    <p:sldId id="256" r:id="rId3"/>
    <p:sldId id="258" r:id="rId4"/>
    <p:sldId id="257" r:id="rId5"/>
    <p:sldId id="259" r:id="rId6"/>
    <p:sldId id="266" r:id="rId7"/>
    <p:sldId id="265" r:id="rId8"/>
    <p:sldId id="264" r:id="rId9"/>
    <p:sldId id="263" r:id="rId10"/>
    <p:sldId id="261" r:id="rId11"/>
    <p:sldId id="260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59"/>
  </p:normalViewPr>
  <p:slideViewPr>
    <p:cSldViewPr snapToGrid="0">
      <p:cViewPr varScale="1">
        <p:scale>
          <a:sx n="110" d="100"/>
          <a:sy n="11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5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2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3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9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3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1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5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5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72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17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14991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20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28679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69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90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19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826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4776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9393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032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2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1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77" r:id="rId5"/>
    <p:sldLayoutId id="2147483778" r:id="rId6"/>
    <p:sldLayoutId id="2147483784" r:id="rId7"/>
    <p:sldLayoutId id="2147483779" r:id="rId8"/>
    <p:sldLayoutId id="2147483780" r:id="rId9"/>
    <p:sldLayoutId id="2147483781" r:id="rId10"/>
    <p:sldLayoutId id="2147483782" r:id="rId11"/>
    <p:sldLayoutId id="21474837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540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D8A1D0-B96F-64AA-6277-3E5C60D8CB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86"/>
          <a:stretch>
            <a:fillRect/>
          </a:stretch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EB818-A613-8008-7E61-4B9820BE1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2"/>
                </a:solidFill>
                <a:effectLst/>
              </a:rPr>
              <a:t>Data Engineering Capstone — D610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8F36E-6B6B-C034-198F-6F80E3A3A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56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2212-B2BE-9AA3-DC68-4811B50C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66384-6AB3-0106-09F7-E9CF2CB00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396805" cy="3581400"/>
          </a:xfrm>
        </p:spPr>
        <p:txBody>
          <a:bodyPr/>
          <a:lstStyle/>
          <a:p>
            <a:r>
              <a:rPr lang="en-US" b="1" dirty="0"/>
              <a:t>Name:</a:t>
            </a:r>
            <a:r>
              <a:rPr lang="en-US" dirty="0"/>
              <a:t> Hiyab Mengisteab</a:t>
            </a:r>
          </a:p>
          <a:p>
            <a:r>
              <a:rPr lang="en-US" b="1" dirty="0"/>
              <a:t>Education:</a:t>
            </a:r>
            <a:r>
              <a:rPr lang="en-US" dirty="0"/>
              <a:t> Bachelor of Business Administration; Currently completing a Master’s in Data Analytics -Data Engineering</a:t>
            </a:r>
          </a:p>
          <a:p>
            <a:r>
              <a:rPr lang="en-US" b="1" dirty="0"/>
              <a:t>Experience:</a:t>
            </a:r>
            <a:r>
              <a:rPr lang="en-US" dirty="0"/>
              <a:t> 7 years of experience as a Business and Data Analyst</a:t>
            </a:r>
          </a:p>
          <a:p>
            <a:r>
              <a:rPr lang="en-US" b="1" dirty="0"/>
              <a:t>Study Objective:</a:t>
            </a:r>
            <a:r>
              <a:rPr lang="en-US" dirty="0"/>
              <a:t> To identify and understand the key factors influencing daily sales</a:t>
            </a:r>
          </a:p>
        </p:txBody>
      </p:sp>
    </p:spTree>
    <p:extLst>
      <p:ext uri="{BB962C8B-B14F-4D97-AF65-F5344CB8AC3E}">
        <p14:creationId xmlns:p14="http://schemas.microsoft.com/office/powerpoint/2010/main" val="1577606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AD3BF-B535-9740-3466-2E402793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sz="5400">
                <a:solidFill>
                  <a:schemeClr val="bg2"/>
                </a:solidFill>
              </a:rPr>
              <a:t>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32AF-3FF0-5078-A55A-7EFB51505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462579"/>
            <a:ext cx="4892308" cy="5819887"/>
          </a:xfrm>
        </p:spPr>
        <p:txBody>
          <a:bodyPr anchor="ctr">
            <a:normAutofit fontScale="92500"/>
          </a:bodyPr>
          <a:lstStyle/>
          <a:p>
            <a:r>
              <a:rPr lang="en-US" dirty="0"/>
              <a:t>This research project focuses on developing a predictive model that leverages environmental and demographic factors—such as weather, location, and population—to estimate restaurant sales in dollar amounts. The goal is to support improved inventory planning and enable data-driven decision-making.</a:t>
            </a:r>
          </a:p>
          <a:p>
            <a:r>
              <a:rPr lang="en-US" b="1" dirty="0"/>
              <a:t>Methodology:</a:t>
            </a:r>
            <a:r>
              <a:rPr lang="en-US" dirty="0"/>
              <a:t> Multiple Linear Regression applied to the X Restaurant Sales Dataset</a:t>
            </a:r>
          </a:p>
          <a:p>
            <a:r>
              <a:rPr lang="en-US" b="1" dirty="0"/>
              <a:t>Purpose:</a:t>
            </a:r>
            <a:r>
              <a:rPr lang="en-US" dirty="0"/>
              <a:t> Create an accurate predictive model for restaurant sales</a:t>
            </a:r>
          </a:p>
          <a:p>
            <a:r>
              <a:rPr lang="en-US" b="1" dirty="0"/>
              <a:t>Hypothesis:</a:t>
            </a:r>
            <a:endParaRPr lang="en-US" dirty="0"/>
          </a:p>
          <a:p>
            <a:pPr lvl="1"/>
            <a:r>
              <a:rPr lang="en-US" b="1" dirty="0"/>
              <a:t>H₀:</a:t>
            </a:r>
            <a:r>
              <a:rPr lang="en-US" dirty="0"/>
              <a:t> A predictive MLR model cannot be developed from the dataset</a:t>
            </a:r>
          </a:p>
          <a:p>
            <a:pPr lvl="1"/>
            <a:r>
              <a:rPr lang="en-US" b="1" dirty="0"/>
              <a:t>H₁:</a:t>
            </a:r>
            <a:r>
              <a:rPr lang="en-US" dirty="0"/>
              <a:t> A predictive MLR model can be constructed from the dataset with a model accuracy exceeding 70%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3042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0D6E-9A23-002C-000E-D50A221F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CB293-CE54-DD95-7B99-058D9A52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10466"/>
            <a:ext cx="9902414" cy="4461734"/>
          </a:xfrm>
        </p:spPr>
        <p:txBody>
          <a:bodyPr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Sources of data: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Private business owner: X Restaurant daily sales dataset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Public sources: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Meteostat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API (weather data) and city-level population statistics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Dataset scope: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8,830 daily records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Covers sales, location, and weather variables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Timeframe: January 2023 – June 2025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Advantages of this approach: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Combines real-world business data with reliable external environmental information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Enables a richer and more accurate predictive model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Challenges: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Multiple data sources led to missing or misaligned records (differences in date formats, station coverage)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Solutions: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 cleaning and transformation: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0" dirty="0">
                <a:solidFill>
                  <a:schemeClr val="tx1"/>
                </a:solidFill>
                <a:latin typeface="Arial" panose="020B0604020202020204" pitchFamily="34" charset="0"/>
              </a:rPr>
              <a:t>Standardized dates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0" dirty="0">
                <a:solidFill>
                  <a:schemeClr val="tx1"/>
                </a:solidFill>
                <a:latin typeface="Arial" panose="020B0604020202020204" pitchFamily="34" charset="0"/>
              </a:rPr>
              <a:t>Imputed missing values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0" dirty="0">
                <a:solidFill>
                  <a:schemeClr val="tx1"/>
                </a:solidFill>
                <a:latin typeface="Arial" panose="020B0604020202020204" pitchFamily="34" charset="0"/>
              </a:rPr>
              <a:t>Verified consistency across sources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Result: High-quality dataset suitable for regression modeling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84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03EE-AE4A-241B-07C0-E0A355C1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FBFD9D-8C1A-E456-3ED9-53F5973F1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0170" y="685800"/>
            <a:ext cx="8534595" cy="5308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052F1F-BB01-5A70-DA30-8EA5D1011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14" y="656973"/>
            <a:ext cx="3004457" cy="283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7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11CC-997C-999B-663C-B7AEA2C5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6598B6-8A52-1293-AD84-7B8FC05BD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7570" y="528471"/>
            <a:ext cx="8720533" cy="59594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F3D77-FEA2-C9A1-B48B-5F72E8775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62" y="528471"/>
            <a:ext cx="2720208" cy="228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04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AFB9-31D5-69E2-9422-D0B1658D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05B13D-1A96-BA61-3603-6B17EA5CF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4068" y="685800"/>
            <a:ext cx="8757932" cy="5225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2E15CA-DB2B-6293-F17F-9DB7F7DE6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39" y="685800"/>
            <a:ext cx="2721429" cy="265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66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65157-FEE2-9030-C775-879705C2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Data Analysis Process: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7891D-6BA5-0F1C-E12C-2A81BA0CE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1981"/>
            <a:ext cx="10042264" cy="4636546"/>
          </a:xfrm>
        </p:spPr>
        <p:txBody>
          <a:bodyPr>
            <a:normAutofit fontScale="25000" lnSpcReduction="20000"/>
          </a:bodyPr>
          <a:lstStyle/>
          <a:p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Data Preparation: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Standardized numerical variables and encoded categorical variables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One-hot encoding for city; label encoding for season</a:t>
            </a:r>
          </a:p>
          <a:p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Exploratory Data Analysis: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Visualized relationships using Seaborn and Matplotlib scatterplots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Reviewed PCA variance ratios for dimensionality insights</a:t>
            </a:r>
          </a:p>
          <a:p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Predictive Modeling: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Applied Linear Regression (scikit-learn)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Refined model using stepwise and backward elimination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Evaluated model with </a:t>
            </a:r>
            <a:r>
              <a:rPr lang="en-US" sz="5200" dirty="0" err="1">
                <a:solidFill>
                  <a:schemeClr val="tx1"/>
                </a:solidFill>
                <a:latin typeface="Arial" panose="020B0604020202020204" pitchFamily="34" charset="0"/>
              </a:rPr>
              <a:t>statsmodels</a:t>
            </a:r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 (coefficients, R², adjusted R²)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Calculated Mean Squared Error (MSE) for training and test sets</a:t>
            </a:r>
          </a:p>
          <a:p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Advantages: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Combines interpretability and predictive performance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Supports feature selection and robust model creation</a:t>
            </a:r>
          </a:p>
          <a:p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Limitations: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Stepwise/backward elimination can be computationally intensive</a:t>
            </a:r>
          </a:p>
          <a:p>
            <a:pPr lvl="1"/>
            <a:r>
              <a:rPr lang="en-US" sz="5200" dirty="0">
                <a:solidFill>
                  <a:schemeClr val="tx1"/>
                </a:solidFill>
                <a:latin typeface="Arial" panose="020B0604020202020204" pitchFamily="34" charset="0"/>
              </a:rPr>
              <a:t>May exclude variables with subtle but meaningful combined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966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71DEB-B90D-3537-E00F-43688074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758F9-5662-4E69-0327-CF2D7E46B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828801"/>
            <a:ext cx="10194664" cy="447518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Findings from Data Analysis:</a:t>
            </a:r>
            <a:endParaRPr lang="en-US" dirty="0"/>
          </a:p>
          <a:p>
            <a:r>
              <a:rPr lang="en-US" b="1" dirty="0"/>
              <a:t>Model Performance:</a:t>
            </a:r>
            <a:endParaRPr lang="en-US" dirty="0"/>
          </a:p>
          <a:p>
            <a:pPr lvl="1"/>
            <a:r>
              <a:rPr lang="en-US" dirty="0"/>
              <a:t>Multiple Linear Regression explains ~73% of variance in daily sales</a:t>
            </a:r>
          </a:p>
          <a:p>
            <a:pPr lvl="1"/>
            <a:r>
              <a:rPr lang="en-US" dirty="0"/>
              <a:t>R² = 0.734; Adjusted R² = 0.733</a:t>
            </a:r>
          </a:p>
          <a:p>
            <a:r>
              <a:rPr lang="en-US" b="1" dirty="0"/>
              <a:t>Key Predictors:</a:t>
            </a:r>
            <a:endParaRPr lang="en-US" dirty="0"/>
          </a:p>
          <a:p>
            <a:pPr lvl="1"/>
            <a:r>
              <a:rPr lang="en-US" dirty="0"/>
              <a:t>Significant variables (p &lt; 0.01): minimum &amp; maximum temperature, season, day of year, city</a:t>
            </a:r>
          </a:p>
          <a:p>
            <a:pPr lvl="1"/>
            <a:r>
              <a:rPr lang="en-US" dirty="0"/>
              <a:t>Geographic differences:</a:t>
            </a:r>
          </a:p>
          <a:p>
            <a:pPr lvl="2"/>
            <a:r>
              <a:rPr lang="en-US" dirty="0"/>
              <a:t>Seattle → highest positive impact on sales</a:t>
            </a:r>
          </a:p>
          <a:p>
            <a:pPr lvl="2"/>
            <a:r>
              <a:rPr lang="en-US" dirty="0"/>
              <a:t>Olympia &amp; Kennewick → negative impact relative to baseline</a:t>
            </a:r>
          </a:p>
          <a:p>
            <a:r>
              <a:rPr lang="en-US" b="1" dirty="0"/>
              <a:t>Model Accuracy:</a:t>
            </a:r>
            <a:endParaRPr lang="en-US" dirty="0"/>
          </a:p>
          <a:p>
            <a:pPr lvl="1"/>
            <a:r>
              <a:rPr lang="en-US" dirty="0"/>
              <a:t>Training MSE: 324,996.20</a:t>
            </a:r>
          </a:p>
          <a:p>
            <a:pPr lvl="1"/>
            <a:r>
              <a:rPr lang="en-US" dirty="0"/>
              <a:t>Test MSE: 345,751.92</a:t>
            </a:r>
          </a:p>
          <a:p>
            <a:pPr lvl="1"/>
            <a:r>
              <a:rPr lang="en-US" dirty="0"/>
              <a:t>Close MSE values indicate good generalization; minimal overfitting</a:t>
            </a:r>
          </a:p>
          <a:p>
            <a:r>
              <a:rPr lang="en-US" b="1" dirty="0"/>
              <a:t>Insight:</a:t>
            </a:r>
            <a:r>
              <a:rPr lang="en-US" dirty="0"/>
              <a:t> Environmental and geographic factors strongly influence daily restaurant sales</a:t>
            </a:r>
          </a:p>
        </p:txBody>
      </p:sp>
    </p:spTree>
    <p:extLst>
      <p:ext uri="{BB962C8B-B14F-4D97-AF65-F5344CB8AC3E}">
        <p14:creationId xmlns:p14="http://schemas.microsoft.com/office/powerpoint/2010/main" val="3079862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9AC2-CADE-1B34-3ABB-3EC730AC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Equation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20946D-548F-A074-6F00-0D15F6EEC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680086"/>
              </p:ext>
            </p:extLst>
          </p:nvPr>
        </p:nvGraphicFramePr>
        <p:xfrm>
          <a:off x="7487322" y="2171700"/>
          <a:ext cx="3485478" cy="3276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2739">
                  <a:extLst>
                    <a:ext uri="{9D8B030D-6E8A-4147-A177-3AD203B41FA5}">
                      <a16:colId xmlns:a16="http://schemas.microsoft.com/office/drawing/2014/main" val="3665860945"/>
                    </a:ext>
                  </a:extLst>
                </a:gridCol>
                <a:gridCol w="1742739">
                  <a:extLst>
                    <a:ext uri="{9D8B030D-6E8A-4147-A177-3AD203B41FA5}">
                      <a16:colId xmlns:a16="http://schemas.microsoft.com/office/drawing/2014/main" val="3569905007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Variable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>
                          <a:effectLst/>
                        </a:rPr>
                        <a:t>Coefficient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6189123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Intercept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121.0128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6504584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tmin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16.1303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7091859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tmax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5.3713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016369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season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169.8779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1946638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day_of_year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-0.2216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68701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city_Bellingham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-221.6950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4779469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city_Everett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-202.3155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5255029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city_Kennewick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-273.3071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905927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city_Olympia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-381.5486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711917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city_Seattle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2861.6048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681445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city_Spokane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353.7104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555578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city_Tacoma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312.6293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610254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city_Vancouver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184.2181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063668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>
                          <a:effectLst/>
                        </a:rPr>
                        <a:t>city_Yakima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kern="100" dirty="0">
                          <a:effectLst/>
                        </a:rPr>
                        <a:t>-193.8709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457176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19ECD7-D27B-90A0-98F9-C5C18E15A233}"/>
              </a:ext>
            </a:extLst>
          </p:cNvPr>
          <p:cNvSpPr txBox="1">
            <a:spLocks/>
          </p:cNvSpPr>
          <p:nvPr/>
        </p:nvSpPr>
        <p:spPr>
          <a:xfrm>
            <a:off x="1371600" y="2285999"/>
            <a:ext cx="5685416" cy="359843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Based on the finding with backward elimination, the following variables showed the most impactful for the linear equation </a:t>
            </a:r>
          </a:p>
          <a:p>
            <a:r>
              <a:rPr lang="en-US" dirty="0"/>
              <a:t>The estimated multiple linear regression equation based on the provided coefficients is:</a:t>
            </a:r>
            <a:endParaRPr lang="en-US" sz="2800" dirty="0"/>
          </a:p>
          <a:p>
            <a:pPr lvl="1"/>
            <a:r>
              <a:rPr lang="en-US" dirty="0" err="1"/>
              <a:t>daily_sales</a:t>
            </a:r>
            <a:r>
              <a:rPr lang="en-US" dirty="0"/>
              <a:t> =121.0128 +(16.1303⋅tmin) + (5.3713⋅tmax) + (169.8779⋅season) − (0.2216⋅day_of_year) − (221.6950⋅city_Bellingham) − (202.3155⋅city_Everett) − (273.3071⋅city_Kennewick) − (381.5486⋅city_Olympia) + (2861.6048⋅city_Seattle) + (353.7104⋅city_Spokane) + (312.6293⋅city_Tacoma) + (184.2181⋅city_Vancouver) − (193.8709⋅city_Yakima)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479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C4D2-8C17-4BC9-32B1-3AE5BF28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B68E8-F4BC-0BCD-761B-990A12183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30998"/>
            <a:ext cx="9601200" cy="3581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Limitations and Recommendations:</a:t>
            </a:r>
            <a:endParaRPr lang="en-US" dirty="0"/>
          </a:p>
          <a:p>
            <a:r>
              <a:rPr lang="en-US" b="1" dirty="0"/>
              <a:t>Limitations:</a:t>
            </a:r>
            <a:endParaRPr lang="en-US" dirty="0"/>
          </a:p>
          <a:p>
            <a:pPr lvl="1"/>
            <a:r>
              <a:rPr lang="en-US" dirty="0"/>
              <a:t>Model assumes linear relationships; may not capture non-linear effects or interactions</a:t>
            </a:r>
          </a:p>
          <a:p>
            <a:r>
              <a:rPr lang="en-US" b="1" dirty="0"/>
              <a:t>Practical Actions:</a:t>
            </a:r>
            <a:endParaRPr lang="en-US" dirty="0"/>
          </a:p>
          <a:p>
            <a:pPr lvl="1"/>
            <a:r>
              <a:rPr lang="en-US" dirty="0"/>
              <a:t>Prioritize staffing and inventory for high-demand cities and peak seasons</a:t>
            </a:r>
          </a:p>
          <a:p>
            <a:pPr lvl="1"/>
            <a:r>
              <a:rPr lang="en-US" dirty="0"/>
              <a:t>Adjust strategies based on predicted sales trends influenced by weather and seasonality</a:t>
            </a:r>
          </a:p>
          <a:p>
            <a:r>
              <a:rPr lang="en-US" b="1" dirty="0"/>
              <a:t>Future Improvements:</a:t>
            </a:r>
            <a:endParaRPr lang="en-US" dirty="0"/>
          </a:p>
          <a:p>
            <a:pPr lvl="1"/>
            <a:r>
              <a:rPr lang="en-US" dirty="0"/>
              <a:t>Incorporate promotional, holiday, and event-based data to improve accuracy</a:t>
            </a:r>
          </a:p>
          <a:p>
            <a:pPr lvl="1"/>
            <a:r>
              <a:rPr lang="en-US" dirty="0"/>
              <a:t>Explore non-linear or machine learning models (e.g., Random Forest, Gradient Boosting) to capture complex interactions and enhance predictive performance</a:t>
            </a:r>
          </a:p>
        </p:txBody>
      </p:sp>
    </p:spTree>
    <p:extLst>
      <p:ext uri="{BB962C8B-B14F-4D97-AF65-F5344CB8AC3E}">
        <p14:creationId xmlns:p14="http://schemas.microsoft.com/office/powerpoint/2010/main" val="4141838168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394</TotalTime>
  <Words>772</Words>
  <Application>Microsoft Macintosh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Franklin Gothic Book</vt:lpstr>
      <vt:lpstr>Times New Roman</vt:lpstr>
      <vt:lpstr>BrushVTI</vt:lpstr>
      <vt:lpstr>Crop</vt:lpstr>
      <vt:lpstr>Data Engineering Capstone — D610</vt:lpstr>
      <vt:lpstr>Introduction</vt:lpstr>
      <vt:lpstr>Overview</vt:lpstr>
      <vt:lpstr>Data Collection </vt:lpstr>
      <vt:lpstr>PowerPoint Presentation</vt:lpstr>
      <vt:lpstr>PowerPoint Presentation</vt:lpstr>
      <vt:lpstr>PowerPoint Presentation</vt:lpstr>
      <vt:lpstr>Data Analysis Process: </vt:lpstr>
      <vt:lpstr>Findings metrics</vt:lpstr>
      <vt:lpstr>Linear Regression Equation</vt:lpstr>
      <vt:lpstr>Limitations and Future Enhancement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Hiyab Mengisteab</dc:creator>
  <cp:lastModifiedBy>Hiyab Mengisteab</cp:lastModifiedBy>
  <cp:revision>3</cp:revision>
  <dcterms:created xsi:type="dcterms:W3CDTF">2025-11-11T16:06:06Z</dcterms:created>
  <dcterms:modified xsi:type="dcterms:W3CDTF">2025-11-11T22:40:57Z</dcterms:modified>
</cp:coreProperties>
</file>